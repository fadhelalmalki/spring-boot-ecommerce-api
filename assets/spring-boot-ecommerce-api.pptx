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embeddedFontLst>
    <p:embeddedFont>
      <p:font typeface="Yu Gothic" panose="020B0400000000000000" pitchFamily="34" charset="-128"/>
      <p:regular r:id="rId12"/>
      <p:bold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1908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75645-7E0E-DD51-B4FE-EB21C2473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D4E5DB-7156-5AFD-ECB3-A3D0FB8534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034F38-3F67-840E-950A-5D18AB23E9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3CAA2-00CD-D1D8-66CD-88A954DDB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379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D7226-415E-143A-A5C0-CA9DF5516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95C0D9-2AC4-C6D1-40A0-068CDE658D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87DA63-EDF4-2DF0-F3F8-3DE851427F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AFDAE2-6D2C-EFBC-F183-6C18441B3E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1661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D2EFB-ABFF-D2CA-FBC3-9AF97C81F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A73700-9FAF-2DB0-093E-9227ADFB62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8C5210-467D-597F-9719-510CFB93E9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152234-AA34-E1C3-79D7-8F70F696C9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6771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59F06-C5D6-B3B1-02D8-E37259185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460211-BA4F-CFED-2B6C-390E506566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0F9D77-8C1F-0776-E89B-5A2D384B97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FFF000-41E4-4C07-24E2-6C590B68AF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2937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754C3-1EC5-BA4F-F378-66F3BE727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2465C0-2E4C-7344-CACE-5EB39C0209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2D5FBD-5AC9-78B6-771D-5A299DA34A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151F5-8412-50A2-758F-0CAF3287FB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3731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12685-F0A2-AC7A-94B7-B3CBDAE9F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FF28FE-5A86-8C05-D3EF-D7BCA797BF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5C6D95-1E4E-A9F3-043D-2F02D6B1D8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919E9-8CC8-5B7A-73FB-99894B732B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0095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CA8F8-AA6D-7AB1-2EC6-2D98E3F86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9C3BD8-D2CB-A039-B0C9-BDF2411611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A5A765-580A-1147-E7DF-367537E749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7B4C00-7C87-A7F8-F380-6684D45448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30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242939"/>
            <a:ext cx="6627846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Raleway" pitchFamily="34" charset="-120"/>
              </a:rPr>
              <a:t>Spring Boot E-Commerce Platform API</a:t>
            </a:r>
            <a:endParaRPr lang="en-US" sz="37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" name="Text 2"/>
          <p:cNvSpPr/>
          <p:nvPr/>
        </p:nvSpPr>
        <p:spPr>
          <a:xfrm>
            <a:off x="661475" y="3707705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Roboto" pitchFamily="34" charset="-120"/>
              </a:rPr>
              <a:t>A robust Spring Boot REST API for managing e-commerce core workflows. It features full domain models for product inventory, customer checkout flows, digital wallet balance updates, and targeted promotional discount systems.</a:t>
            </a:r>
            <a:endParaRPr lang="en-US" sz="145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3298" y="957531"/>
            <a:ext cx="5802702" cy="5555411"/>
          </a:xfrm>
          <a:prstGeom prst="roundRect">
            <a:avLst>
              <a:gd name="adj" fmla="val 256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167887" y="957532"/>
            <a:ext cx="5730815" cy="5287993"/>
          </a:xfrm>
          <a:prstGeom prst="roundRect">
            <a:avLst>
              <a:gd name="adj" fmla="val 184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9CD1FB-D035-92C3-222C-9F119B69A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952" y="1096677"/>
            <a:ext cx="5802703" cy="51488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2C7728-8DF7-BEFD-A89D-7C9CD20F42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8189" y="1096677"/>
            <a:ext cx="5424365" cy="4882551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B529E97C-B899-F83C-D0B2-C8A3AB6EE71D}"/>
              </a:ext>
            </a:extLst>
          </p:cNvPr>
          <p:cNvSpPr/>
          <p:nvPr/>
        </p:nvSpPr>
        <p:spPr>
          <a:xfrm>
            <a:off x="589741" y="408177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buNone/>
            </a:pPr>
            <a:r>
              <a:rPr lang="en-US" sz="2000" dirty="0"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(1/5)</a:t>
            </a:r>
            <a:r>
              <a:rPr lang="en-US" sz="2000" dirty="0">
                <a:solidFill>
                  <a:srgbClr val="B3AE60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 @PostMapping</a:t>
            </a:r>
            <a:r>
              <a:rPr lang="en-US" sz="2000" dirty="0">
                <a:solidFill>
                  <a:srgbClr val="BCBEC4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(</a:t>
            </a:r>
            <a:r>
              <a:rPr lang="en-US" sz="2000" dirty="0">
                <a:solidFill>
                  <a:srgbClr val="6AAB73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"/buy-product/{id}/{productID}/{merchantID}"</a:t>
            </a:r>
            <a:r>
              <a:rPr lang="en-US" sz="2000" dirty="0">
                <a:solidFill>
                  <a:srgbClr val="BCBEC4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)</a:t>
            </a:r>
            <a:br>
              <a:rPr lang="en-US" sz="2000" dirty="0">
                <a:solidFill>
                  <a:srgbClr val="BCBEC4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</a:br>
            <a:endParaRPr lang="en-US" sz="2000" dirty="0">
              <a:solidFill>
                <a:srgbClr val="BCBEC4"/>
              </a:solidFill>
              <a:effectLst/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57223-B7F2-A65E-B55F-4AA0C275E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9CA21F4-A831-4EC3-635F-6FD28DDEFD4B}"/>
              </a:ext>
            </a:extLst>
          </p:cNvPr>
          <p:cNvSpPr/>
          <p:nvPr/>
        </p:nvSpPr>
        <p:spPr>
          <a:xfrm>
            <a:off x="1297354" y="957532"/>
            <a:ext cx="9487877" cy="2797528"/>
          </a:xfrm>
          <a:prstGeom prst="roundRect">
            <a:avLst>
              <a:gd name="adj" fmla="val 256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536E6DE9-9EC3-A99A-1057-28D85460AF1A}"/>
              </a:ext>
            </a:extLst>
          </p:cNvPr>
          <p:cNvSpPr/>
          <p:nvPr/>
        </p:nvSpPr>
        <p:spPr>
          <a:xfrm>
            <a:off x="589741" y="408177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buNone/>
            </a:pPr>
            <a:r>
              <a:rPr lang="en-US" sz="2000" dirty="0"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(2/5)</a:t>
            </a:r>
            <a:r>
              <a:rPr lang="en-US" sz="2000" dirty="0">
                <a:solidFill>
                  <a:srgbClr val="B3AE60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 @PutMapping</a:t>
            </a:r>
            <a:r>
              <a:rPr lang="en-US" sz="2000" dirty="0">
                <a:solidFill>
                  <a:srgbClr val="BCBEC4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(</a:t>
            </a:r>
            <a:r>
              <a:rPr lang="en-US" sz="2000" dirty="0">
                <a:solidFill>
                  <a:srgbClr val="6AAB73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"/add-balance/{id}/{additionalBalance}"</a:t>
            </a:r>
            <a:r>
              <a:rPr lang="en-US" sz="2000" dirty="0">
                <a:solidFill>
                  <a:srgbClr val="BCBEC4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)</a:t>
            </a:r>
            <a:br>
              <a:rPr lang="en-US" sz="2000" dirty="0">
                <a:solidFill>
                  <a:srgbClr val="BCBEC4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</a:br>
            <a:endParaRPr lang="en-US" sz="2000" dirty="0">
              <a:solidFill>
                <a:srgbClr val="BCBEC4"/>
              </a:solidFill>
              <a:effectLst/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buNone/>
            </a:pPr>
            <a:br>
              <a:rPr lang="en-US" sz="2000" dirty="0">
                <a:solidFill>
                  <a:srgbClr val="BCBEC4"/>
                </a:solidFill>
                <a:effectLst/>
                <a:latin typeface="JetBrains Mono"/>
              </a:rPr>
            </a:br>
            <a:endParaRPr lang="en-US" sz="2000" dirty="0">
              <a:solidFill>
                <a:srgbClr val="BCBEC4"/>
              </a:solidFill>
              <a:effectLst/>
              <a:latin typeface="JetBrains Mono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DF4015-BBFA-C7DE-9780-5223D0C5C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554" y="1041662"/>
            <a:ext cx="8907118" cy="2629267"/>
          </a:xfrm>
          <a:prstGeom prst="rect">
            <a:avLst/>
          </a:prstGeom>
        </p:spPr>
      </p:pic>
      <p:sp>
        <p:nvSpPr>
          <p:cNvPr id="10" name="Shape 0">
            <a:extLst>
              <a:ext uri="{FF2B5EF4-FFF2-40B4-BE49-F238E27FC236}">
                <a16:creationId xmlns:a16="http://schemas.microsoft.com/office/drawing/2014/main" id="{FB61F3DA-C185-9EDF-4DA2-661B93453AEA}"/>
              </a:ext>
            </a:extLst>
          </p:cNvPr>
          <p:cNvSpPr/>
          <p:nvPr/>
        </p:nvSpPr>
        <p:spPr>
          <a:xfrm>
            <a:off x="2407138" y="3833820"/>
            <a:ext cx="7205785" cy="2616003"/>
          </a:xfrm>
          <a:prstGeom prst="roundRect">
            <a:avLst>
              <a:gd name="adj" fmla="val 256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CE3DBAB-15B0-8D4B-4479-7760531BAB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2766" y="4003424"/>
            <a:ext cx="6582694" cy="227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993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8114B-D510-E478-D17E-97478CF1F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7A05F890-D7DD-CD5F-8FAD-E51BA58314C5}"/>
              </a:ext>
            </a:extLst>
          </p:cNvPr>
          <p:cNvSpPr/>
          <p:nvPr/>
        </p:nvSpPr>
        <p:spPr>
          <a:xfrm>
            <a:off x="589741" y="408177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buNone/>
            </a:pPr>
            <a:r>
              <a:rPr lang="en-US" sz="2000" dirty="0"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(3/5)</a:t>
            </a:r>
            <a:r>
              <a:rPr lang="en-US" sz="2000" dirty="0">
                <a:solidFill>
                  <a:srgbClr val="B3AE60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 @PutMapping</a:t>
            </a:r>
            <a:r>
              <a:rPr lang="en-US" sz="2000" dirty="0">
                <a:solidFill>
                  <a:srgbClr val="BCBEC4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(</a:t>
            </a:r>
            <a:r>
              <a:rPr lang="en-US" sz="2000" dirty="0">
                <a:solidFill>
                  <a:srgbClr val="6AAB73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"/transfer-balance/{fromID}/{toID}/{transferredBalance}"</a:t>
            </a:r>
            <a:r>
              <a:rPr lang="en-US" sz="2000" dirty="0">
                <a:solidFill>
                  <a:srgbClr val="BCBEC4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)</a:t>
            </a:r>
            <a:br>
              <a:rPr lang="en-US" sz="2000" dirty="0">
                <a:solidFill>
                  <a:srgbClr val="BCBEC4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</a:br>
            <a:endParaRPr lang="en-US" sz="2000" dirty="0">
              <a:solidFill>
                <a:srgbClr val="BCBEC4"/>
              </a:solidFill>
              <a:effectLst/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buNone/>
            </a:pPr>
            <a:br>
              <a:rPr lang="en-US" sz="2000" dirty="0">
                <a:solidFill>
                  <a:srgbClr val="BCBEC4"/>
                </a:solidFill>
                <a:effectLst/>
                <a:latin typeface="JetBrains Mono"/>
              </a:rPr>
            </a:br>
            <a:endParaRPr lang="en-US" sz="2000" dirty="0">
              <a:solidFill>
                <a:srgbClr val="BCBEC4"/>
              </a:solidFill>
              <a:effectLst/>
              <a:latin typeface="JetBrains Mono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DF72CA3-577E-7196-4535-DF3D27E2A81D}"/>
              </a:ext>
            </a:extLst>
          </p:cNvPr>
          <p:cNvGrpSpPr/>
          <p:nvPr/>
        </p:nvGrpSpPr>
        <p:grpSpPr>
          <a:xfrm>
            <a:off x="200479" y="1836947"/>
            <a:ext cx="6294105" cy="3245339"/>
            <a:chOff x="2336800" y="957533"/>
            <a:chExt cx="6994769" cy="3536314"/>
          </a:xfrm>
        </p:grpSpPr>
        <p:sp>
          <p:nvSpPr>
            <p:cNvPr id="2" name="Shape 0">
              <a:extLst>
                <a:ext uri="{FF2B5EF4-FFF2-40B4-BE49-F238E27FC236}">
                  <a16:creationId xmlns:a16="http://schemas.microsoft.com/office/drawing/2014/main" id="{F6063A38-31CB-0338-8EF0-66E66171ADF5}"/>
                </a:ext>
              </a:extLst>
            </p:cNvPr>
            <p:cNvSpPr/>
            <p:nvPr/>
          </p:nvSpPr>
          <p:spPr>
            <a:xfrm>
              <a:off x="2336800" y="957533"/>
              <a:ext cx="6994769" cy="3536314"/>
            </a:xfrm>
            <a:prstGeom prst="roundRect">
              <a:avLst>
                <a:gd name="adj" fmla="val 256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A8DB017-FE70-8CC1-7594-393F690F5D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46717" y="1094152"/>
              <a:ext cx="6547802" cy="3207879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8DB31AC-4F35-D6AD-70FA-DE3EAB86BC64}"/>
              </a:ext>
            </a:extLst>
          </p:cNvPr>
          <p:cNvGrpSpPr/>
          <p:nvPr/>
        </p:nvGrpSpPr>
        <p:grpSpPr>
          <a:xfrm>
            <a:off x="6557107" y="1836948"/>
            <a:ext cx="5548923" cy="3245338"/>
            <a:chOff x="4759569" y="3266830"/>
            <a:chExt cx="5361354" cy="3001108"/>
          </a:xfrm>
        </p:grpSpPr>
        <p:sp>
          <p:nvSpPr>
            <p:cNvPr id="8" name="Shape 0">
              <a:extLst>
                <a:ext uri="{FF2B5EF4-FFF2-40B4-BE49-F238E27FC236}">
                  <a16:creationId xmlns:a16="http://schemas.microsoft.com/office/drawing/2014/main" id="{D6744477-3B26-A214-8A3B-C90CD0E1298B}"/>
                </a:ext>
              </a:extLst>
            </p:cNvPr>
            <p:cNvSpPr/>
            <p:nvPr/>
          </p:nvSpPr>
          <p:spPr>
            <a:xfrm>
              <a:off x="4759569" y="3266830"/>
              <a:ext cx="5361354" cy="3001108"/>
            </a:xfrm>
            <a:prstGeom prst="roundRect">
              <a:avLst>
                <a:gd name="adj" fmla="val 256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33E745E-1CFE-7B94-9B0F-95887D79AD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66100" y="3370012"/>
              <a:ext cx="5085768" cy="27720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73319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D8CC7-6AE9-75CE-6D3D-6E8B6A1EA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AC0A81A4-BD46-D3DD-8D25-37C41E7B0CE5}"/>
              </a:ext>
            </a:extLst>
          </p:cNvPr>
          <p:cNvSpPr/>
          <p:nvPr/>
        </p:nvSpPr>
        <p:spPr>
          <a:xfrm>
            <a:off x="589741" y="408177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buNone/>
            </a:pPr>
            <a:r>
              <a:rPr lang="en-US" sz="2000" dirty="0"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(4/5)</a:t>
            </a:r>
            <a:r>
              <a:rPr lang="en-US" sz="2000" dirty="0">
                <a:solidFill>
                  <a:srgbClr val="B3AE60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 @PutMapping</a:t>
            </a:r>
            <a:r>
              <a:rPr lang="en-US" sz="2000" dirty="0">
                <a:solidFill>
                  <a:srgbClr val="BCBEC4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(</a:t>
            </a:r>
            <a:r>
              <a:rPr lang="en-US" sz="2000" dirty="0">
                <a:solidFill>
                  <a:srgbClr val="6AAB73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"/withdraw-balance/{id}/{withdrawnBalance}"</a:t>
            </a:r>
            <a:r>
              <a:rPr lang="en-US" sz="2000" dirty="0">
                <a:solidFill>
                  <a:srgbClr val="BCBEC4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)</a:t>
            </a:r>
            <a:br>
              <a:rPr lang="en-US" sz="2000" dirty="0">
                <a:solidFill>
                  <a:srgbClr val="BCBEC4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</a:br>
            <a:endParaRPr lang="en-US" sz="2000" dirty="0">
              <a:solidFill>
                <a:srgbClr val="BCBEC4"/>
              </a:solidFill>
              <a:effectLst/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buNone/>
            </a:pPr>
            <a:br>
              <a:rPr lang="en-US" sz="2000" dirty="0">
                <a:solidFill>
                  <a:srgbClr val="BCBEC4"/>
                </a:solidFill>
                <a:effectLst/>
                <a:latin typeface="JetBrains Mono"/>
              </a:rPr>
            </a:br>
            <a:endParaRPr lang="en-US" sz="2000" dirty="0">
              <a:solidFill>
                <a:srgbClr val="BCBEC4"/>
              </a:solidFill>
              <a:effectLst/>
              <a:latin typeface="JetBrains Mono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14A3E6F-6D08-48EF-F255-C398ADFC5B2B}"/>
              </a:ext>
            </a:extLst>
          </p:cNvPr>
          <p:cNvGrpSpPr/>
          <p:nvPr/>
        </p:nvGrpSpPr>
        <p:grpSpPr>
          <a:xfrm>
            <a:off x="246833" y="1773862"/>
            <a:ext cx="6928711" cy="3790691"/>
            <a:chOff x="589741" y="878772"/>
            <a:chExt cx="7358505" cy="3497843"/>
          </a:xfrm>
        </p:grpSpPr>
        <p:sp>
          <p:nvSpPr>
            <p:cNvPr id="2" name="Shape 0">
              <a:extLst>
                <a:ext uri="{FF2B5EF4-FFF2-40B4-BE49-F238E27FC236}">
                  <a16:creationId xmlns:a16="http://schemas.microsoft.com/office/drawing/2014/main" id="{D6AA6A91-9CE7-3631-26D3-E252537FDCCC}"/>
                </a:ext>
              </a:extLst>
            </p:cNvPr>
            <p:cNvSpPr/>
            <p:nvPr/>
          </p:nvSpPr>
          <p:spPr>
            <a:xfrm>
              <a:off x="589741" y="878772"/>
              <a:ext cx="7358505" cy="3497843"/>
            </a:xfrm>
            <a:prstGeom prst="roundRect">
              <a:avLst>
                <a:gd name="adj" fmla="val 256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CC1C416-72B6-6F3B-D657-35B8309D80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9783" y="1037101"/>
              <a:ext cx="7011038" cy="3169574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F27119C-E831-BCB2-4FAE-FB8761D5A695}"/>
              </a:ext>
            </a:extLst>
          </p:cNvPr>
          <p:cNvGrpSpPr/>
          <p:nvPr/>
        </p:nvGrpSpPr>
        <p:grpSpPr>
          <a:xfrm>
            <a:off x="7256898" y="1950692"/>
            <a:ext cx="4784096" cy="3310274"/>
            <a:chOff x="6751413" y="3098289"/>
            <a:chExt cx="4784096" cy="3232174"/>
          </a:xfrm>
        </p:grpSpPr>
        <p:sp>
          <p:nvSpPr>
            <p:cNvPr id="10" name="Shape 0">
              <a:extLst>
                <a:ext uri="{FF2B5EF4-FFF2-40B4-BE49-F238E27FC236}">
                  <a16:creationId xmlns:a16="http://schemas.microsoft.com/office/drawing/2014/main" id="{B8A853EA-4CF9-43A7-9874-A233CBDA0A24}"/>
                </a:ext>
              </a:extLst>
            </p:cNvPr>
            <p:cNvSpPr/>
            <p:nvPr/>
          </p:nvSpPr>
          <p:spPr>
            <a:xfrm>
              <a:off x="6751413" y="3098289"/>
              <a:ext cx="4784096" cy="3232174"/>
            </a:xfrm>
            <a:prstGeom prst="roundRect">
              <a:avLst>
                <a:gd name="adj" fmla="val 256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1B51610-366F-F9D1-1D10-F6F66027B2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14121" y="3238182"/>
              <a:ext cx="4440218" cy="29176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55560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40AA3-75CF-9149-5CAA-2C2C500CA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9AC218D7-6ECA-E915-496A-A0381B49217E}"/>
              </a:ext>
            </a:extLst>
          </p:cNvPr>
          <p:cNvSpPr/>
          <p:nvPr/>
        </p:nvSpPr>
        <p:spPr>
          <a:xfrm>
            <a:off x="589741" y="408177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buNone/>
            </a:pPr>
            <a:r>
              <a:rPr lang="en-US" sz="2000" dirty="0"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(5/5)</a:t>
            </a:r>
            <a:r>
              <a:rPr lang="en-US" sz="2000" dirty="0">
                <a:solidFill>
                  <a:srgbClr val="B3AE60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 @GetMapping</a:t>
            </a:r>
            <a:r>
              <a:rPr lang="en-US" sz="2000" dirty="0">
                <a:solidFill>
                  <a:srgbClr val="BCBEC4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(</a:t>
            </a:r>
            <a:r>
              <a:rPr lang="en-US" sz="2000" dirty="0">
                <a:solidFill>
                  <a:srgbClr val="6AAB73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"/get-products-by-price-range/{minPrice}/{maxPrice}"</a:t>
            </a:r>
            <a:r>
              <a:rPr lang="en-US" sz="2000" dirty="0">
                <a:solidFill>
                  <a:srgbClr val="BCBEC4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)</a:t>
            </a:r>
            <a:br>
              <a:rPr lang="en-US" sz="2000" dirty="0">
                <a:solidFill>
                  <a:srgbClr val="BCBEC4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</a:br>
            <a:endParaRPr lang="en-US" sz="2000" dirty="0">
              <a:solidFill>
                <a:srgbClr val="BCBEC4"/>
              </a:solidFill>
              <a:effectLst/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buNone/>
            </a:pPr>
            <a:br>
              <a:rPr lang="en-US" sz="2000" dirty="0">
                <a:solidFill>
                  <a:srgbClr val="BCBEC4"/>
                </a:solidFill>
                <a:effectLst/>
                <a:latin typeface="JetBrains Mono"/>
              </a:rPr>
            </a:br>
            <a:endParaRPr lang="en-US" sz="2000" dirty="0">
              <a:solidFill>
                <a:srgbClr val="BCBEC4"/>
              </a:solidFill>
              <a:effectLst/>
              <a:latin typeface="JetBrains Mono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96E7CB6-3C39-8B5E-072C-228545D8A516}"/>
              </a:ext>
            </a:extLst>
          </p:cNvPr>
          <p:cNvGrpSpPr/>
          <p:nvPr/>
        </p:nvGrpSpPr>
        <p:grpSpPr>
          <a:xfrm>
            <a:off x="328687" y="1785703"/>
            <a:ext cx="5635072" cy="3153966"/>
            <a:chOff x="2563446" y="957532"/>
            <a:chExt cx="7049477" cy="3473792"/>
          </a:xfrm>
        </p:grpSpPr>
        <p:sp>
          <p:nvSpPr>
            <p:cNvPr id="2" name="Shape 0">
              <a:extLst>
                <a:ext uri="{FF2B5EF4-FFF2-40B4-BE49-F238E27FC236}">
                  <a16:creationId xmlns:a16="http://schemas.microsoft.com/office/drawing/2014/main" id="{217013AD-E790-A163-6CB6-25D68A17FD24}"/>
                </a:ext>
              </a:extLst>
            </p:cNvPr>
            <p:cNvSpPr/>
            <p:nvPr/>
          </p:nvSpPr>
          <p:spPr>
            <a:xfrm>
              <a:off x="2563446" y="957532"/>
              <a:ext cx="7049477" cy="3473792"/>
            </a:xfrm>
            <a:prstGeom prst="roundRect">
              <a:avLst>
                <a:gd name="adj" fmla="val 256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541C7E8-6BD7-355E-163E-D33552DA5C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54255" y="1070255"/>
              <a:ext cx="6683489" cy="3172076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929213D-64CD-C2FB-2C0C-B0E3C611E2AB}"/>
              </a:ext>
            </a:extLst>
          </p:cNvPr>
          <p:cNvGrpSpPr/>
          <p:nvPr/>
        </p:nvGrpSpPr>
        <p:grpSpPr>
          <a:xfrm>
            <a:off x="6096000" y="2149387"/>
            <a:ext cx="6010031" cy="2559225"/>
            <a:chOff x="4783016" y="1782055"/>
            <a:chExt cx="6400800" cy="2721278"/>
          </a:xfrm>
        </p:grpSpPr>
        <p:sp>
          <p:nvSpPr>
            <p:cNvPr id="8" name="Shape 0">
              <a:extLst>
                <a:ext uri="{FF2B5EF4-FFF2-40B4-BE49-F238E27FC236}">
                  <a16:creationId xmlns:a16="http://schemas.microsoft.com/office/drawing/2014/main" id="{33FF5AA1-FF2B-BE60-DEFD-F3A72D050207}"/>
                </a:ext>
              </a:extLst>
            </p:cNvPr>
            <p:cNvSpPr/>
            <p:nvPr/>
          </p:nvSpPr>
          <p:spPr>
            <a:xfrm>
              <a:off x="4783016" y="1782055"/>
              <a:ext cx="6400800" cy="2721278"/>
            </a:xfrm>
            <a:prstGeom prst="roundRect">
              <a:avLst>
                <a:gd name="adj" fmla="val 256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AC167FF-021A-46A0-625C-C3F66FF18F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08061" y="1932036"/>
              <a:ext cx="6122966" cy="24213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54253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B9185-F70F-1841-C97E-0EEBCCF4D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6F698BF0-95C3-A8AB-C9D9-39E0B5B7D007}"/>
              </a:ext>
            </a:extLst>
          </p:cNvPr>
          <p:cNvSpPr/>
          <p:nvPr/>
        </p:nvSpPr>
        <p:spPr>
          <a:xfrm>
            <a:off x="589741" y="408177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buNone/>
            </a:pPr>
            <a:r>
              <a:rPr lang="en-US" sz="2000" dirty="0"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(1/3)</a:t>
            </a:r>
            <a:r>
              <a:rPr lang="en-US" sz="2000" dirty="0">
                <a:solidFill>
                  <a:srgbClr val="B3AE60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 @PutMapping</a:t>
            </a:r>
            <a:r>
              <a:rPr lang="en-US" sz="2000" dirty="0">
                <a:solidFill>
                  <a:srgbClr val="BCBEC4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(</a:t>
            </a:r>
            <a:r>
              <a:rPr lang="en-US" sz="2000" dirty="0">
                <a:solidFill>
                  <a:srgbClr val="6AAB73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"/gift-customers"</a:t>
            </a:r>
            <a:r>
              <a:rPr lang="en-US" sz="2000" dirty="0">
                <a:solidFill>
                  <a:srgbClr val="BCBEC4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)</a:t>
            </a:r>
            <a:br>
              <a:rPr lang="en-US" sz="2000" dirty="0">
                <a:solidFill>
                  <a:srgbClr val="BCBEC4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</a:br>
            <a:endParaRPr lang="en-US" sz="2000" dirty="0">
              <a:solidFill>
                <a:srgbClr val="BCBEC4"/>
              </a:solidFill>
              <a:effectLst/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buNone/>
            </a:pPr>
            <a:br>
              <a:rPr lang="en-US" sz="2000" dirty="0">
                <a:solidFill>
                  <a:srgbClr val="BCBEC4"/>
                </a:solidFill>
                <a:effectLst/>
                <a:latin typeface="JetBrains Mono"/>
              </a:rPr>
            </a:br>
            <a:endParaRPr lang="en-US" sz="2000" dirty="0">
              <a:solidFill>
                <a:srgbClr val="BCBEC4"/>
              </a:solidFill>
              <a:effectLst/>
              <a:latin typeface="JetBrains Mono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66A2A83-06CD-2657-B190-E9B92CCA01DD}"/>
              </a:ext>
            </a:extLst>
          </p:cNvPr>
          <p:cNvGrpSpPr/>
          <p:nvPr/>
        </p:nvGrpSpPr>
        <p:grpSpPr>
          <a:xfrm>
            <a:off x="230775" y="1875776"/>
            <a:ext cx="6107502" cy="3173046"/>
            <a:chOff x="293298" y="1070708"/>
            <a:chExt cx="7475194" cy="3516924"/>
          </a:xfrm>
        </p:grpSpPr>
        <p:sp>
          <p:nvSpPr>
            <p:cNvPr id="2" name="Shape 0">
              <a:extLst>
                <a:ext uri="{FF2B5EF4-FFF2-40B4-BE49-F238E27FC236}">
                  <a16:creationId xmlns:a16="http://schemas.microsoft.com/office/drawing/2014/main" id="{43665DFF-54CA-F1B8-1F54-59B26BAEE416}"/>
                </a:ext>
              </a:extLst>
            </p:cNvPr>
            <p:cNvSpPr/>
            <p:nvPr/>
          </p:nvSpPr>
          <p:spPr>
            <a:xfrm>
              <a:off x="293298" y="1070708"/>
              <a:ext cx="7475194" cy="3516924"/>
            </a:xfrm>
            <a:prstGeom prst="roundRect">
              <a:avLst>
                <a:gd name="adj" fmla="val 256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64CFB05-2A99-E0A4-B8E9-58CC5D49A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2470" y="1291765"/>
              <a:ext cx="7116168" cy="3086531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AB14323-D56A-AC9F-3BEF-512C0F676802}"/>
              </a:ext>
            </a:extLst>
          </p:cNvPr>
          <p:cNvGrpSpPr/>
          <p:nvPr/>
        </p:nvGrpSpPr>
        <p:grpSpPr>
          <a:xfrm>
            <a:off x="6492837" y="1641231"/>
            <a:ext cx="5461207" cy="3572201"/>
            <a:chOff x="5212861" y="2070926"/>
            <a:chExt cx="5994401" cy="4017259"/>
          </a:xfrm>
        </p:grpSpPr>
        <p:sp>
          <p:nvSpPr>
            <p:cNvPr id="8" name="Shape 0">
              <a:extLst>
                <a:ext uri="{FF2B5EF4-FFF2-40B4-BE49-F238E27FC236}">
                  <a16:creationId xmlns:a16="http://schemas.microsoft.com/office/drawing/2014/main" id="{446F06AD-96EC-CC0A-CF5C-E23E906895E9}"/>
                </a:ext>
              </a:extLst>
            </p:cNvPr>
            <p:cNvSpPr/>
            <p:nvPr/>
          </p:nvSpPr>
          <p:spPr>
            <a:xfrm>
              <a:off x="5212861" y="2070926"/>
              <a:ext cx="5994401" cy="4017259"/>
            </a:xfrm>
            <a:prstGeom prst="roundRect">
              <a:avLst>
                <a:gd name="adj" fmla="val 256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83CF7FE-0042-E09C-A56C-FA70929B29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35468" y="2142189"/>
              <a:ext cx="5708550" cy="38253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42345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F2885-FC5F-DEF9-CAE6-965A3FDDD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70457F8F-9094-573E-56DB-01D0B0862B56}"/>
              </a:ext>
            </a:extLst>
          </p:cNvPr>
          <p:cNvSpPr/>
          <p:nvPr/>
        </p:nvSpPr>
        <p:spPr>
          <a:xfrm>
            <a:off x="589741" y="408177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buNone/>
            </a:pPr>
            <a:r>
              <a:rPr lang="en-US" sz="2000" dirty="0"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(</a:t>
            </a:r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2</a:t>
            </a:r>
            <a:r>
              <a:rPr lang="en-US" sz="2000" dirty="0"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/3)</a:t>
            </a:r>
            <a:r>
              <a:rPr lang="en-US" sz="2000" dirty="0">
                <a:solidFill>
                  <a:srgbClr val="B3AE60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 @PostMapping</a:t>
            </a:r>
            <a:r>
              <a:rPr lang="en-US" sz="2000" dirty="0">
                <a:solidFill>
                  <a:srgbClr val="BCBEC4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(</a:t>
            </a:r>
            <a:r>
              <a:rPr lang="en-US" sz="2000" dirty="0">
                <a:solidFill>
                  <a:srgbClr val="6AAB73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"/buy-product-offer/{id}/{productID}/{merchantID}"</a:t>
            </a:r>
            <a:r>
              <a:rPr lang="en-US" sz="2000" dirty="0">
                <a:solidFill>
                  <a:srgbClr val="BCBEC4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)</a:t>
            </a:r>
            <a:br>
              <a:rPr lang="en-US" sz="2000" dirty="0">
                <a:solidFill>
                  <a:srgbClr val="BCBEC4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</a:br>
            <a:endParaRPr lang="en-US" sz="2000" dirty="0">
              <a:solidFill>
                <a:srgbClr val="BCBEC4"/>
              </a:solidFill>
              <a:effectLst/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buNone/>
            </a:pPr>
            <a:br>
              <a:rPr lang="en-US" sz="2000" dirty="0">
                <a:solidFill>
                  <a:srgbClr val="BCBEC4"/>
                </a:solidFill>
                <a:effectLst/>
                <a:latin typeface="JetBrains Mono"/>
              </a:rPr>
            </a:br>
            <a:endParaRPr lang="en-US" sz="2000" dirty="0">
              <a:solidFill>
                <a:srgbClr val="BCBEC4"/>
              </a:solidFill>
              <a:effectLst/>
              <a:latin typeface="JetBrains Mono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1C6FF3C-53FF-3102-DA8F-B2AB8CB8CF32}"/>
              </a:ext>
            </a:extLst>
          </p:cNvPr>
          <p:cNvGrpSpPr/>
          <p:nvPr/>
        </p:nvGrpSpPr>
        <p:grpSpPr>
          <a:xfrm>
            <a:off x="414215" y="1594338"/>
            <a:ext cx="5845908" cy="3962401"/>
            <a:chOff x="293298" y="957532"/>
            <a:chExt cx="7225102" cy="4974346"/>
          </a:xfrm>
        </p:grpSpPr>
        <p:sp>
          <p:nvSpPr>
            <p:cNvPr id="2" name="Shape 0">
              <a:extLst>
                <a:ext uri="{FF2B5EF4-FFF2-40B4-BE49-F238E27FC236}">
                  <a16:creationId xmlns:a16="http://schemas.microsoft.com/office/drawing/2014/main" id="{F7111317-E752-F2EF-BAF5-052E9CC8C309}"/>
                </a:ext>
              </a:extLst>
            </p:cNvPr>
            <p:cNvSpPr/>
            <p:nvPr/>
          </p:nvSpPr>
          <p:spPr>
            <a:xfrm>
              <a:off x="293298" y="957532"/>
              <a:ext cx="7225102" cy="4974346"/>
            </a:xfrm>
            <a:prstGeom prst="roundRect">
              <a:avLst>
                <a:gd name="adj" fmla="val 256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784A6CA-37AA-E123-1B80-3201129F17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965" y="1088382"/>
              <a:ext cx="6932765" cy="4681236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12F8FEE-A8DA-9972-70D8-BB8C9C83E101}"/>
              </a:ext>
            </a:extLst>
          </p:cNvPr>
          <p:cNvGrpSpPr/>
          <p:nvPr/>
        </p:nvGrpSpPr>
        <p:grpSpPr>
          <a:xfrm>
            <a:off x="6402858" y="1203568"/>
            <a:ext cx="5302517" cy="4978401"/>
            <a:chOff x="6596184" y="957532"/>
            <a:chExt cx="5302517" cy="5224438"/>
          </a:xfrm>
        </p:grpSpPr>
        <p:sp>
          <p:nvSpPr>
            <p:cNvPr id="9" name="Shape 0">
              <a:extLst>
                <a:ext uri="{FF2B5EF4-FFF2-40B4-BE49-F238E27FC236}">
                  <a16:creationId xmlns:a16="http://schemas.microsoft.com/office/drawing/2014/main" id="{EA1AE196-4491-4C62-2394-D24DCC22224F}"/>
                </a:ext>
              </a:extLst>
            </p:cNvPr>
            <p:cNvSpPr/>
            <p:nvPr/>
          </p:nvSpPr>
          <p:spPr>
            <a:xfrm>
              <a:off x="6596184" y="957532"/>
              <a:ext cx="5302517" cy="5224438"/>
            </a:xfrm>
            <a:prstGeom prst="roundRect">
              <a:avLst>
                <a:gd name="adj" fmla="val 256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70FF5F1-A747-5427-6B96-BC4EB9176D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55329" y="1119553"/>
              <a:ext cx="4950046" cy="49119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16476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4E609-0A09-C0B6-B203-6AAEF5DAC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8F6C71E7-349B-1D6E-1513-1E0CD4063A27}"/>
              </a:ext>
            </a:extLst>
          </p:cNvPr>
          <p:cNvSpPr/>
          <p:nvPr/>
        </p:nvSpPr>
        <p:spPr>
          <a:xfrm>
            <a:off x="589741" y="408177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buNone/>
            </a:pPr>
            <a:r>
              <a:rPr lang="en-US" sz="2000" dirty="0"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(3/3)</a:t>
            </a:r>
            <a:r>
              <a:rPr lang="en-US" sz="2000" dirty="0">
                <a:solidFill>
                  <a:srgbClr val="B3AE60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 @GetMapping</a:t>
            </a:r>
            <a:r>
              <a:rPr lang="en-US" sz="2000" dirty="0">
                <a:solidFill>
                  <a:srgbClr val="BCBEC4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(</a:t>
            </a:r>
            <a:r>
              <a:rPr lang="en-US" sz="2000" dirty="0">
                <a:solidFill>
                  <a:srgbClr val="6AAB73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"/get-products-under-price/{specificPrice}"</a:t>
            </a:r>
            <a:r>
              <a:rPr lang="en-US" sz="2000" dirty="0">
                <a:solidFill>
                  <a:srgbClr val="BCBEC4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)</a:t>
            </a:r>
            <a:br>
              <a:rPr lang="en-US" sz="2000" dirty="0">
                <a:solidFill>
                  <a:srgbClr val="BCBEC4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</a:br>
            <a:endParaRPr lang="en-US" sz="2000" dirty="0">
              <a:solidFill>
                <a:srgbClr val="BCBEC4"/>
              </a:solidFill>
              <a:effectLst/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>
              <a:buNone/>
            </a:pPr>
            <a:br>
              <a:rPr lang="en-US" sz="2000" dirty="0">
                <a:solidFill>
                  <a:srgbClr val="BCBEC4"/>
                </a:solidFill>
                <a:effectLst/>
                <a:latin typeface="JetBrains Mono"/>
              </a:rPr>
            </a:br>
            <a:endParaRPr lang="en-US" sz="2000" dirty="0">
              <a:solidFill>
                <a:srgbClr val="BCBEC4"/>
              </a:solidFill>
              <a:effectLst/>
              <a:latin typeface="JetBrains Mono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60B6BCB-71B1-4C0E-E1C2-5B005EE0D5A2}"/>
              </a:ext>
            </a:extLst>
          </p:cNvPr>
          <p:cNvGrpSpPr/>
          <p:nvPr/>
        </p:nvGrpSpPr>
        <p:grpSpPr>
          <a:xfrm>
            <a:off x="2200251" y="1020055"/>
            <a:ext cx="7201657" cy="2692253"/>
            <a:chOff x="293297" y="957532"/>
            <a:chExt cx="8842887" cy="3278406"/>
          </a:xfrm>
        </p:grpSpPr>
        <p:sp>
          <p:nvSpPr>
            <p:cNvPr id="2" name="Shape 0">
              <a:extLst>
                <a:ext uri="{FF2B5EF4-FFF2-40B4-BE49-F238E27FC236}">
                  <a16:creationId xmlns:a16="http://schemas.microsoft.com/office/drawing/2014/main" id="{A5AE32A7-A427-2000-6105-3F9B2A327496}"/>
                </a:ext>
              </a:extLst>
            </p:cNvPr>
            <p:cNvSpPr/>
            <p:nvPr/>
          </p:nvSpPr>
          <p:spPr>
            <a:xfrm>
              <a:off x="293297" y="957532"/>
              <a:ext cx="8842887" cy="3278406"/>
            </a:xfrm>
            <a:prstGeom prst="roundRect">
              <a:avLst>
                <a:gd name="adj" fmla="val 256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60F3954-1C31-A4EE-ED9A-E9C8ECF06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1707" y="1127409"/>
              <a:ext cx="8526065" cy="2915057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591074E-66A1-D250-B997-DD898DA1DE21}"/>
              </a:ext>
            </a:extLst>
          </p:cNvPr>
          <p:cNvGrpSpPr/>
          <p:nvPr/>
        </p:nvGrpSpPr>
        <p:grpSpPr>
          <a:xfrm>
            <a:off x="2680678" y="3862931"/>
            <a:ext cx="5947508" cy="2586892"/>
            <a:chOff x="1524000" y="3851812"/>
            <a:chExt cx="6408615" cy="2814711"/>
          </a:xfrm>
        </p:grpSpPr>
        <p:sp>
          <p:nvSpPr>
            <p:cNvPr id="8" name="Shape 0">
              <a:extLst>
                <a:ext uri="{FF2B5EF4-FFF2-40B4-BE49-F238E27FC236}">
                  <a16:creationId xmlns:a16="http://schemas.microsoft.com/office/drawing/2014/main" id="{7347B7F1-7DBF-E075-2DA5-5C62BF599F6B}"/>
                </a:ext>
              </a:extLst>
            </p:cNvPr>
            <p:cNvSpPr/>
            <p:nvPr/>
          </p:nvSpPr>
          <p:spPr>
            <a:xfrm>
              <a:off x="1524000" y="3851812"/>
              <a:ext cx="6408615" cy="2814711"/>
            </a:xfrm>
            <a:prstGeom prst="roundRect">
              <a:avLst>
                <a:gd name="adj" fmla="val 256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B5A04F9-AA5D-511A-8D96-97EFE15159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15279" y="3935305"/>
              <a:ext cx="6163535" cy="25911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67878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161</Words>
  <Application>Microsoft Office PowerPoint</Application>
  <PresentationFormat>Widescreen</PresentationFormat>
  <Paragraphs>26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JetBrains Mono</vt:lpstr>
      <vt:lpstr>Arial</vt:lpstr>
      <vt:lpstr>Yu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FADHEL ABDULRAHMAN ABDULRAHMAN ALMALKI</cp:lastModifiedBy>
  <cp:revision>4</cp:revision>
  <dcterms:created xsi:type="dcterms:W3CDTF">2026-09-15T19:10:28Z</dcterms:created>
  <dcterms:modified xsi:type="dcterms:W3CDTF">2026-09-15T20:03:04Z</dcterms:modified>
</cp:coreProperties>
</file>